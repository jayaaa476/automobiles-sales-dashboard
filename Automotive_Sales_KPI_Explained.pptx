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955279" y="128016"/>
            <a:ext cx="4236415" cy="6729984"/>
          </a:xfrm>
          <a:prstGeom prst="rect">
            <a:avLst/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955279" y="128016"/>
            <a:ext cx="91440" cy="6729984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6858000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70DAFF"/>
                </a:solidFill>
                <a:latin typeface="Aptos"/>
              </a:defRPr>
            </a:pPr>
            <a:r>
              <a:t>AUTOMOTIVE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72768"/>
            <a:ext cx="7132320" cy="15544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3400" b="1">
                <a:solidFill>
                  <a:srgbClr val="F6F9FF"/>
                </a:solidFill>
                <a:latin typeface="Aptos Display"/>
              </a:defRPr>
            </a:pPr>
            <a:r>
              <a:t>PERFORMANCE</a:t>
            </a:r>
          </a:p>
          <a:p>
            <a:pPr>
              <a:spcAft>
                <a:spcPts val="500"/>
              </a:spcAft>
              <a:defRPr sz="3400" b="1">
                <a:solidFill>
                  <a:srgbClr val="F6F9FF"/>
                </a:solidFill>
                <a:latin typeface="Aptos Display"/>
              </a:defRPr>
            </a:pPr>
            <a:r>
              <a:t>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29000"/>
            <a:ext cx="1325880" cy="73152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3749039"/>
            <a:ext cx="6766560" cy="3840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C0CFE2"/>
                </a:solidFill>
                <a:latin typeface="Aptos"/>
              </a:defRPr>
            </a:pPr>
            <a:r>
              <a:t>KPI • GRAPHS • SLICERS • BUSINESS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343400"/>
            <a:ext cx="6629400" cy="5486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6F9FF"/>
                </a:solidFill>
                <a:latin typeface="Aptos"/>
              </a:defRPr>
            </a:pPr>
            <a:r>
              <a:t>A visual guide to automotive sales performance</a:t>
            </a:r>
          </a:p>
        </p:txBody>
      </p:sp>
      <p:pic>
        <p:nvPicPr>
          <p:cNvPr id="10" name="Picture 9" descr="401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1051560"/>
            <a:ext cx="3611880" cy="2057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11312" y="3401568"/>
            <a:ext cx="3383280" cy="3840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70DAFF"/>
                </a:solidFill>
                <a:latin typeface="Aptos"/>
              </a:defRPr>
            </a:pPr>
            <a:r>
              <a:t>EXECUTIVE DASHBOARD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3977639"/>
            <a:ext cx="3383280" cy="114300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6F9FF"/>
                </a:solidFill>
                <a:latin typeface="Aptos"/>
              </a:defRPr>
            </a:pPr>
            <a:r>
              <a:t>Chart on the left</a:t>
            </a:r>
          </a:p>
          <a:p>
            <a:pPr>
              <a:spcAft>
                <a:spcPts val="500"/>
              </a:spcAft>
              <a:defRPr sz="1600" b="0">
                <a:solidFill>
                  <a:srgbClr val="F6F9FF"/>
                </a:solidFill>
                <a:latin typeface="Aptos"/>
              </a:defRPr>
            </a:pPr>
            <a:r>
              <a:t>Explanation on the right</a:t>
            </a:r>
          </a:p>
          <a:p>
            <a:pPr>
              <a:spcAft>
                <a:spcPts val="500"/>
              </a:spcAft>
              <a:defRPr sz="1600" b="0">
                <a:solidFill>
                  <a:srgbClr val="F6F9FF"/>
                </a:solidFill>
                <a:latin typeface="Aptos"/>
              </a:defRPr>
            </a:pPr>
            <a:r>
              <a:t>One visual per slide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6263640"/>
            <a:ext cx="5303520" cy="25603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C0CFE2"/>
                </a:solidFill>
                <a:latin typeface="Aptos"/>
              </a:defRPr>
            </a:pPr>
            <a:r>
              <a:t>PREPARED FOR BUSINESS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29184"/>
            <a:ext cx="73152" cy="530352"/>
          </a:xfrm>
          <a:prstGeom prst="rect">
            <a:avLst/>
          </a:prstGeom>
          <a:solidFill>
            <a:srgbClr val="70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56032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6F9FF"/>
                </a:solidFill>
                <a:latin typeface="Aptos Display"/>
              </a:defRPr>
            </a:pPr>
            <a:r>
              <a:t>Dashboard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32104"/>
            <a:ext cx="1069848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C0CFE2"/>
                </a:solidFill>
                <a:latin typeface="Aptos"/>
              </a:defRPr>
            </a:pPr>
            <a:r>
              <a:t>A single-page view of sales volume, revenue, profitability, vehicle mix and customer experience.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6519672"/>
            <a:ext cx="41148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C0CFE2"/>
                </a:solidFill>
                <a:latin typeface="Aptos"/>
              </a:defRPr>
            </a:pPr>
            <a:r>
              <a:t>AUTOMOTIVE SALES PERFORMANCE  •  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6446520" cy="4892040"/>
          </a:xfrm>
          <a:prstGeom prst="roundRect">
            <a:avLst>
              <a:gd name="adj" fmla="val 8000"/>
            </a:avLst>
          </a:prstGeom>
          <a:solidFill>
            <a:srgbClr val="E1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14032" y="1325880"/>
            <a:ext cx="4645152" cy="4892040"/>
          </a:xfrm>
          <a:prstGeom prst="roundRect">
            <a:avLst>
              <a:gd name="adj" fmla="val 8000"/>
            </a:avLst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4032" y="1325880"/>
            <a:ext cx="82296" cy="4892040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4927" y="1627632"/>
            <a:ext cx="3977639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70DAFF"/>
                </a:solidFill>
                <a:latin typeface="Aptos"/>
              </a:defRPr>
            </a:pPr>
            <a:r>
              <a:t>WHAT THE VISUAL SHOWS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43216" y="2203703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139696"/>
            <a:ext cx="3703320" cy="6217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The dashboard combines several performance indicators in one place.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43216" y="3008375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2944368"/>
            <a:ext cx="3703320" cy="8412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Charts compare revenue, profit, units sold, fuel type, vehicle type and city-level results.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43216" y="4032504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3968496"/>
            <a:ext cx="3703320" cy="6217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Use the visuals together to identify strong areas and topics that need closer analysis.</a:t>
            </a:r>
          </a:p>
        </p:txBody>
      </p:sp>
      <p:pic>
        <p:nvPicPr>
          <p:cNvPr id="17" name="Picture 16" descr="401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45920"/>
            <a:ext cx="5943600" cy="33467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29184"/>
            <a:ext cx="73152" cy="530352"/>
          </a:xfrm>
          <a:prstGeom prst="rect">
            <a:avLst/>
          </a:prstGeom>
          <a:solidFill>
            <a:srgbClr val="70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56032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6F9FF"/>
                </a:solidFill>
                <a:latin typeface="Aptos Display"/>
              </a:defRPr>
            </a:pPr>
            <a:r>
              <a:t>KPI 01 — Units Sold by Fuel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32104"/>
            <a:ext cx="1069848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C0CFE2"/>
                </a:solidFill>
                <a:latin typeface="Aptos"/>
              </a:defRPr>
            </a:pPr>
            <a:r>
              <a:t>KPI visual: count of units sold grouped by fuel type.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6519672"/>
            <a:ext cx="41148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C0CFE2"/>
                </a:solidFill>
                <a:latin typeface="Aptos"/>
              </a:defRPr>
            </a:pPr>
            <a:r>
              <a:t>AUTOMOTIVE SALES PERFORMANCE  •  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6446520" cy="4892040"/>
          </a:xfrm>
          <a:prstGeom prst="roundRect">
            <a:avLst>
              <a:gd name="adj" fmla="val 8000"/>
            </a:avLst>
          </a:prstGeom>
          <a:solidFill>
            <a:srgbClr val="E1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14032" y="1325880"/>
            <a:ext cx="4645152" cy="4892040"/>
          </a:xfrm>
          <a:prstGeom prst="roundRect">
            <a:avLst>
              <a:gd name="adj" fmla="val 8000"/>
            </a:avLst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4032" y="1325880"/>
            <a:ext cx="82296" cy="4892040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4927" y="1627632"/>
            <a:ext cx="3977639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70DAFF"/>
                </a:solidFill>
                <a:latin typeface="Aptos"/>
              </a:defRPr>
            </a:pPr>
            <a:r>
              <a:t>WHAT THE VISUAL SHOWS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43216" y="2203703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139696"/>
            <a:ext cx="3703320" cy="6217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Petrol is the largest segment in the displayed fuel-type bar.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43216" y="3008375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2944368"/>
            <a:ext cx="3703320" cy="6217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Diesel contributes the next-largest share, while Electric and CNG are smaller segments.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43216" y="3813048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3749039"/>
            <a:ext cx="3703320" cy="8412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Use the mix to plan inventory and promotions, and validate the exact totals in the source data.</a:t>
            </a:r>
          </a:p>
        </p:txBody>
      </p:sp>
      <p:pic>
        <p:nvPicPr>
          <p:cNvPr id="17" name="Picture 16" descr="crop_fuel_type_k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423160"/>
            <a:ext cx="594360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29184"/>
            <a:ext cx="73152" cy="530352"/>
          </a:xfrm>
          <a:prstGeom prst="rect">
            <a:avLst/>
          </a:prstGeom>
          <a:solidFill>
            <a:srgbClr val="70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56032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6F9FF"/>
                </a:solidFill>
                <a:latin typeface="Aptos Display"/>
              </a:defRPr>
            </a:pPr>
            <a:r>
              <a:t>KPI 02 — Revenue Gauge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32104"/>
            <a:ext cx="1069848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C0CFE2"/>
                </a:solidFill>
                <a:latin typeface="Aptos"/>
              </a:defRPr>
            </a:pPr>
            <a:r>
              <a:t>KPI visual: total revenue displayed on a gauge scale.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6519672"/>
            <a:ext cx="41148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C0CFE2"/>
                </a:solidFill>
                <a:latin typeface="Aptos"/>
              </a:defRPr>
            </a:pPr>
            <a:r>
              <a:t>AUTOMOTIVE SALES PERFORMANCE  • 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6446520" cy="4892040"/>
          </a:xfrm>
          <a:prstGeom prst="roundRect">
            <a:avLst>
              <a:gd name="adj" fmla="val 8000"/>
            </a:avLst>
          </a:prstGeom>
          <a:solidFill>
            <a:srgbClr val="E1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14032" y="1325880"/>
            <a:ext cx="4645152" cy="4892040"/>
          </a:xfrm>
          <a:prstGeom prst="roundRect">
            <a:avLst>
              <a:gd name="adj" fmla="val 8000"/>
            </a:avLst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4032" y="1325880"/>
            <a:ext cx="82296" cy="4892040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4927" y="1627632"/>
            <a:ext cx="3977639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70DAFF"/>
                </a:solidFill>
                <a:latin typeface="Aptos"/>
              </a:defRPr>
            </a:pPr>
            <a:r>
              <a:t>WHAT THE VISUAL SHOWS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43216" y="2203703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139696"/>
            <a:ext cx="3703320" cy="6217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The gauge provides a quick visual of revenue against its displayed scale.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43216" y="3008375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2944368"/>
            <a:ext cx="3703320" cy="6217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The shown scale runs from 0bn to 4bn, with the indicator around the middle range.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43216" y="3813048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3749039"/>
            <a:ext cx="3703320" cy="8412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Read this alongside the Total Revenue card and confirm the measure’s currency and aggregation.</a:t>
            </a:r>
          </a:p>
        </p:txBody>
      </p:sp>
      <p:pic>
        <p:nvPicPr>
          <p:cNvPr id="17" name="Picture 16" descr="crop_revenue_gauge_k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423160"/>
            <a:ext cx="594360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29184"/>
            <a:ext cx="73152" cy="530352"/>
          </a:xfrm>
          <a:prstGeom prst="rect">
            <a:avLst/>
          </a:prstGeom>
          <a:solidFill>
            <a:srgbClr val="70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56032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6F9FF"/>
                </a:solidFill>
                <a:latin typeface="Aptos Display"/>
              </a:defRPr>
            </a:pPr>
            <a:r>
              <a:t>Slicer — Vehicle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32104"/>
            <a:ext cx="1069848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C0CFE2"/>
                </a:solidFill>
                <a:latin typeface="Aptos"/>
              </a:defRPr>
            </a:pPr>
            <a:r>
              <a:t>The model slicer lets viewers filter dashboard visuals by selected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6519672"/>
            <a:ext cx="41148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C0CFE2"/>
                </a:solidFill>
                <a:latin typeface="Aptos"/>
              </a:defRPr>
            </a:pPr>
            <a:r>
              <a:t>AUTOMOTIVE SALES PERFORMANCE  •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6446520" cy="4892040"/>
          </a:xfrm>
          <a:prstGeom prst="roundRect">
            <a:avLst>
              <a:gd name="adj" fmla="val 8000"/>
            </a:avLst>
          </a:prstGeom>
          <a:solidFill>
            <a:srgbClr val="E1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14032" y="1325880"/>
            <a:ext cx="4645152" cy="4892040"/>
          </a:xfrm>
          <a:prstGeom prst="roundRect">
            <a:avLst>
              <a:gd name="adj" fmla="val 8000"/>
            </a:avLst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4032" y="1325880"/>
            <a:ext cx="82296" cy="4892040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4927" y="1627632"/>
            <a:ext cx="3977639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70DAFF"/>
                </a:solidFill>
                <a:latin typeface="Aptos"/>
              </a:defRPr>
            </a:pPr>
            <a:r>
              <a:t>WHAT THE VISUAL SHOWS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43216" y="2203703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139696"/>
            <a:ext cx="3703320" cy="6217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Choose a model such as CityGo, E-City, FamilySUV, RoadStar or SparkEV.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43216" y="3008375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2944368"/>
            <a:ext cx="3703320" cy="6217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Other visible choices include ComfortX, Elegance, PrimeSedan, RuggedX and Street125.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43216" y="3813048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3749039"/>
            <a:ext cx="3703320" cy="8412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Use the slicer to compare selected models consistently across revenue, units and profit visuals.</a:t>
            </a:r>
          </a:p>
        </p:txBody>
      </p:sp>
      <p:pic>
        <p:nvPicPr>
          <p:cNvPr id="17" name="Picture 16" descr="crop_model_slic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423160"/>
            <a:ext cx="594360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29184"/>
            <a:ext cx="73152" cy="530352"/>
          </a:xfrm>
          <a:prstGeom prst="rect">
            <a:avLst/>
          </a:prstGeom>
          <a:solidFill>
            <a:srgbClr val="70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56032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6F9FF"/>
                </a:solidFill>
                <a:latin typeface="Aptos Display"/>
              </a:defRPr>
            </a:pPr>
            <a:r>
              <a:t>KPI 03 — Summary Performance 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32104"/>
            <a:ext cx="1069848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C0CFE2"/>
                </a:solidFill>
                <a:latin typeface="Aptos"/>
              </a:defRPr>
            </a:pPr>
            <a:r>
              <a:t>Headline measures shown across the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6519672"/>
            <a:ext cx="41148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C0CFE2"/>
                </a:solidFill>
                <a:latin typeface="Aptos"/>
              </a:defRPr>
            </a:pPr>
            <a:r>
              <a:t>AUTOMOTIVE SALES PERFORMANCE  •  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6446520" cy="4892040"/>
          </a:xfrm>
          <a:prstGeom prst="roundRect">
            <a:avLst>
              <a:gd name="adj" fmla="val 8000"/>
            </a:avLst>
          </a:prstGeom>
          <a:solidFill>
            <a:srgbClr val="E1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14032" y="1325880"/>
            <a:ext cx="4645152" cy="4892040"/>
          </a:xfrm>
          <a:prstGeom prst="roundRect">
            <a:avLst>
              <a:gd name="adj" fmla="val 8000"/>
            </a:avLst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4032" y="1325880"/>
            <a:ext cx="82296" cy="4892040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4927" y="1627632"/>
            <a:ext cx="3977639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70DAFF"/>
                </a:solidFill>
                <a:latin typeface="Aptos"/>
              </a:defRPr>
            </a:pPr>
            <a:r>
              <a:t>WHAT THE VISUAL SHOWS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43216" y="2203703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139696"/>
            <a:ext cx="3703320" cy="8412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Displayed values include 2K units sold, ₹1.81bn total revenue and ₹208.63M total profit.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43216" y="322783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3163824"/>
            <a:ext cx="3703320" cy="6217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The cards also show Profit Margin % as 0.1 and Average Satisfaction as 408.9%.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43216" y="4032504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3968496"/>
            <a:ext cx="3703320" cy="8412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The margin and satisfaction figures may require a format or calculation check before presenting them as percentages.</a:t>
            </a:r>
          </a:p>
        </p:txBody>
      </p:sp>
      <p:pic>
        <p:nvPicPr>
          <p:cNvPr id="17" name="Picture 16" descr="crop_kpi_summary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423160"/>
            <a:ext cx="594360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29184"/>
            <a:ext cx="73152" cy="530352"/>
          </a:xfrm>
          <a:prstGeom prst="rect">
            <a:avLst/>
          </a:prstGeom>
          <a:solidFill>
            <a:srgbClr val="70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56032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6F9FF"/>
                </a:solidFill>
                <a:latin typeface="Aptos Display"/>
              </a:defRPr>
            </a:pPr>
            <a:r>
              <a:t>Graph 01 — Monthly Revenue Trend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32104"/>
            <a:ext cx="1069848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C0CFE2"/>
                </a:solidFill>
                <a:latin typeface="Aptos"/>
              </a:defRPr>
            </a:pPr>
            <a:r>
              <a:t>Line chart: total revenue by year (2023–2025).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6519672"/>
            <a:ext cx="41148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C0CFE2"/>
                </a:solidFill>
                <a:latin typeface="Aptos"/>
              </a:defRPr>
            </a:pPr>
            <a:r>
              <a:t>AUTOMOTIVE SALES PERFORMANCE  • 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6446520" cy="4892040"/>
          </a:xfrm>
          <a:prstGeom prst="roundRect">
            <a:avLst>
              <a:gd name="adj" fmla="val 8000"/>
            </a:avLst>
          </a:prstGeom>
          <a:solidFill>
            <a:srgbClr val="E1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14032" y="1325880"/>
            <a:ext cx="4645152" cy="4892040"/>
          </a:xfrm>
          <a:prstGeom prst="roundRect">
            <a:avLst>
              <a:gd name="adj" fmla="val 8000"/>
            </a:avLst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4032" y="1325880"/>
            <a:ext cx="82296" cy="4892040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4927" y="1627632"/>
            <a:ext cx="3977639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70DAFF"/>
                </a:solidFill>
                <a:latin typeface="Aptos"/>
              </a:defRPr>
            </a:pPr>
            <a:r>
              <a:t>WHAT THE VISUAL SHOWS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43216" y="2203703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139696"/>
            <a:ext cx="3703320" cy="6217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Revenue decreases from 2023 to 2024 and declines again in 2025 in the displayed chart.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43216" y="3008375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2944368"/>
            <a:ext cx="3703320" cy="6217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The steepest visible fall appears between 2023 and 2024.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43216" y="3813048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3749039"/>
            <a:ext cx="3703320" cy="8412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Check whether 2025 represents a complete year and investigate causes before concluding why revenue fell.</a:t>
            </a:r>
          </a:p>
        </p:txBody>
      </p:sp>
      <p:pic>
        <p:nvPicPr>
          <p:cNvPr id="17" name="Picture 16" descr="crop_monthly_revenu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74519"/>
            <a:ext cx="594360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29184"/>
            <a:ext cx="73152" cy="530352"/>
          </a:xfrm>
          <a:prstGeom prst="rect">
            <a:avLst/>
          </a:prstGeom>
          <a:solidFill>
            <a:srgbClr val="70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56032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6F9FF"/>
                </a:solidFill>
                <a:latin typeface="Aptos Display"/>
              </a:defRPr>
            </a:pPr>
            <a:r>
              <a:t>Graph 02 — Total Profit by 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32104"/>
            <a:ext cx="1069848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C0CFE2"/>
                </a:solidFill>
                <a:latin typeface="Aptos"/>
              </a:defRPr>
            </a:pPr>
            <a:r>
              <a:t>Horizontal bar chart: total profit for each city.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6519672"/>
            <a:ext cx="41148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C0CFE2"/>
                </a:solidFill>
                <a:latin typeface="Aptos"/>
              </a:defRPr>
            </a:pPr>
            <a:r>
              <a:t>AUTOMOTIVE SALES PERFORMANCE  • 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6446520" cy="4892040"/>
          </a:xfrm>
          <a:prstGeom prst="roundRect">
            <a:avLst>
              <a:gd name="adj" fmla="val 8000"/>
            </a:avLst>
          </a:prstGeom>
          <a:solidFill>
            <a:srgbClr val="E1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14032" y="1325880"/>
            <a:ext cx="4645152" cy="4892040"/>
          </a:xfrm>
          <a:prstGeom prst="roundRect">
            <a:avLst>
              <a:gd name="adj" fmla="val 8000"/>
            </a:avLst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4032" y="1325880"/>
            <a:ext cx="82296" cy="4892040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4927" y="1627632"/>
            <a:ext cx="3977639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70DAFF"/>
                </a:solidFill>
                <a:latin typeface="Aptos"/>
              </a:defRPr>
            </a:pPr>
            <a:r>
              <a:t>WHAT THE VISUAL SHOWS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43216" y="2203703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139696"/>
            <a:ext cx="3703320" cy="6217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Patna has the longest visible bar, followed by Mumbai and Chandigarh.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43216" y="3008375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2944368"/>
            <a:ext cx="3703320" cy="6217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Bhopal, Kolkata and Pune appear lower among the cities visible in the chart.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43216" y="3813048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3749039"/>
            <a:ext cx="3703320" cy="8412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Use city-level profitability to guide follow-up analysis; compare with sales volume and costs before allocating resources.</a:t>
            </a:r>
          </a:p>
        </p:txBody>
      </p:sp>
      <p:pic>
        <p:nvPicPr>
          <p:cNvPr id="17" name="Picture 16" descr="crop_total_profit_by_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74519"/>
            <a:ext cx="594360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29184"/>
            <a:ext cx="73152" cy="530352"/>
          </a:xfrm>
          <a:prstGeom prst="rect">
            <a:avLst/>
          </a:prstGeom>
          <a:solidFill>
            <a:srgbClr val="70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56032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6F9FF"/>
                </a:solidFill>
                <a:latin typeface="Aptos Display"/>
              </a:defRPr>
            </a:pPr>
            <a:r>
              <a:t>Graph 03 — Vehicle Type by 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32104"/>
            <a:ext cx="1069848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C0CFE2"/>
                </a:solidFill>
                <a:latin typeface="Aptos"/>
              </a:defRPr>
            </a:pPr>
            <a:r>
              <a:t>Pie chart: count of vehicle type grouped by city.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6519672"/>
            <a:ext cx="41148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C0CFE2"/>
                </a:solidFill>
                <a:latin typeface="Aptos"/>
              </a:defRPr>
            </a:pPr>
            <a:r>
              <a:t>AUTOMOTIVE SALES PERFORMANCE  • 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6446520" cy="4892040"/>
          </a:xfrm>
          <a:prstGeom prst="roundRect">
            <a:avLst>
              <a:gd name="adj" fmla="val 8000"/>
            </a:avLst>
          </a:prstGeom>
          <a:solidFill>
            <a:srgbClr val="E1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14032" y="1325880"/>
            <a:ext cx="4645152" cy="4892040"/>
          </a:xfrm>
          <a:prstGeom prst="roundRect">
            <a:avLst>
              <a:gd name="adj" fmla="val 8000"/>
            </a:avLst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4032" y="1325880"/>
            <a:ext cx="82296" cy="4892040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4927" y="1627632"/>
            <a:ext cx="3977639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70DAFF"/>
                </a:solidFill>
                <a:latin typeface="Aptos"/>
              </a:defRPr>
            </a:pPr>
            <a:r>
              <a:t>WHAT THE VISUAL SHOWS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43216" y="2203703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139696"/>
            <a:ext cx="3703320" cy="6217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The displayed city counts are relatively close, with visible values from 63 to 78.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43216" y="3008375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2944368"/>
            <a:ext cx="3703320" cy="6217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Kolkata shows 78 (13.95%) and Chennai 76 (13.6%) among the visible labels.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43216" y="3813048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3749039"/>
            <a:ext cx="3703320" cy="8412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The distribution looks fairly balanced; check the complete legend and filter state before interpreting the full ranking.</a:t>
            </a:r>
          </a:p>
        </p:txBody>
      </p:sp>
      <p:pic>
        <p:nvPicPr>
          <p:cNvPr id="17" name="Picture 16" descr="crop_vehicle_type_by_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74519"/>
            <a:ext cx="594360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29184"/>
            <a:ext cx="73152" cy="530352"/>
          </a:xfrm>
          <a:prstGeom prst="rect">
            <a:avLst/>
          </a:prstGeom>
          <a:solidFill>
            <a:srgbClr val="70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56032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6F9FF"/>
                </a:solidFill>
                <a:latin typeface="Aptos Display"/>
              </a:defRPr>
            </a:pPr>
            <a:r>
              <a:t>Graph 04 — Revenue by Vehicle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32104"/>
            <a:ext cx="1069848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C0CFE2"/>
                </a:solidFill>
                <a:latin typeface="Aptos"/>
              </a:defRPr>
            </a:pPr>
            <a:r>
              <a:t>Column chart: total revenue grouped by vehicle type.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6519672"/>
            <a:ext cx="41148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C0CFE2"/>
                </a:solidFill>
                <a:latin typeface="Aptos"/>
              </a:defRPr>
            </a:pPr>
            <a:r>
              <a:t>AUTOMOTIVE SALES PERFORMANCE  •  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6446520" cy="4892040"/>
          </a:xfrm>
          <a:prstGeom prst="roundRect">
            <a:avLst>
              <a:gd name="adj" fmla="val 8000"/>
            </a:avLst>
          </a:prstGeom>
          <a:solidFill>
            <a:srgbClr val="E1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14032" y="1325880"/>
            <a:ext cx="4645152" cy="4892040"/>
          </a:xfrm>
          <a:prstGeom prst="roundRect">
            <a:avLst>
              <a:gd name="adj" fmla="val 8000"/>
            </a:avLst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4032" y="1325880"/>
            <a:ext cx="82296" cy="4892040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4927" y="1627632"/>
            <a:ext cx="3977639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70DAFF"/>
                </a:solidFill>
                <a:latin typeface="Aptos"/>
              </a:defRPr>
            </a:pPr>
            <a:r>
              <a:t>WHAT THE VISUAL SHOWS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43216" y="2203703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139696"/>
            <a:ext cx="3703320" cy="6217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SUV has the tallest revenue bar in the displayed chart.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43216" y="3008375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2944368"/>
            <a:ext cx="3703320" cy="8412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Sedan, Electric Vehicle and Hatchback follow at lower levels; Motorcycle is the smallest visible category.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43216" y="4032504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3968496"/>
            <a:ext cx="3703320" cy="8412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Compare revenue with units sold and profit to distinguish high-volume categories from high-value categories.</a:t>
            </a:r>
          </a:p>
        </p:txBody>
      </p:sp>
      <p:pic>
        <p:nvPicPr>
          <p:cNvPr id="17" name="Picture 16" descr="crop_total_revenue_by_vehicle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74519"/>
            <a:ext cx="594360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29184"/>
            <a:ext cx="73152" cy="530352"/>
          </a:xfrm>
          <a:prstGeom prst="rect">
            <a:avLst/>
          </a:prstGeom>
          <a:solidFill>
            <a:srgbClr val="70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56032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6F9FF"/>
                </a:solidFill>
                <a:latin typeface="Aptos Display"/>
              </a:defRPr>
            </a:pPr>
            <a:r>
              <a:t>Graph 05 — Units Sold by Fuel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32104"/>
            <a:ext cx="1069848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C0CFE2"/>
                </a:solidFill>
                <a:latin typeface="Aptos"/>
              </a:defRPr>
            </a:pPr>
            <a:r>
              <a:t>Donut chart: units sold by fuel category.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6519672"/>
            <a:ext cx="41148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C0CFE2"/>
                </a:solidFill>
                <a:latin typeface="Aptos"/>
              </a:defRPr>
            </a:pPr>
            <a:r>
              <a:t>AUTOMOTIVE SALES PERFORMANCE  •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6446520" cy="4892040"/>
          </a:xfrm>
          <a:prstGeom prst="roundRect">
            <a:avLst>
              <a:gd name="adj" fmla="val 8000"/>
            </a:avLst>
          </a:prstGeom>
          <a:solidFill>
            <a:srgbClr val="E1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14032" y="1325880"/>
            <a:ext cx="4645152" cy="4892040"/>
          </a:xfrm>
          <a:prstGeom prst="roundRect">
            <a:avLst>
              <a:gd name="adj" fmla="val 8000"/>
            </a:avLst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4032" y="1325880"/>
            <a:ext cx="82296" cy="4892040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4927" y="1627632"/>
            <a:ext cx="3977639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70DAFF"/>
                </a:solidFill>
                <a:latin typeface="Aptos"/>
              </a:defRPr>
            </a:pPr>
            <a:r>
              <a:t>WHAT THE VISUAL SHOWS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43216" y="2203703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139696"/>
            <a:ext cx="3703320" cy="6217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Petrol accounts for 880 units (54.86%) in the displayed chart.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43216" y="3008375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2944368"/>
            <a:ext cx="3703320" cy="6217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Diesel contributes 376 units (23.44%); Electric 178 (11.1%); and CNG 170 (10.6%).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43216" y="3813048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3749039"/>
            <a:ext cx="3703320" cy="8412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Petrol dominates the mix, while the other fuel categories together make up a substantial minority.</a:t>
            </a:r>
          </a:p>
        </p:txBody>
      </p:sp>
      <p:pic>
        <p:nvPicPr>
          <p:cNvPr id="17" name="Picture 16" descr="crop_units_sold_by_fuel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74519"/>
            <a:ext cx="594360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29184"/>
            <a:ext cx="73152" cy="530352"/>
          </a:xfrm>
          <a:prstGeom prst="rect">
            <a:avLst/>
          </a:prstGeom>
          <a:solidFill>
            <a:srgbClr val="70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56032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6F9FF"/>
                </a:solidFill>
                <a:latin typeface="Aptos Display"/>
              </a:defRPr>
            </a:pPr>
            <a:r>
              <a:t>Graph 06 — Revenue and Profit by 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32104"/>
            <a:ext cx="1069848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C0CFE2"/>
                </a:solidFill>
                <a:latin typeface="Aptos"/>
              </a:defRPr>
            </a:pPr>
            <a:r>
              <a:t>Combined area/line chart comparing total revenue and total profit by city.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6519672"/>
            <a:ext cx="41148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C0CFE2"/>
                </a:solidFill>
                <a:latin typeface="Aptos"/>
              </a:defRPr>
            </a:pPr>
            <a:r>
              <a:t>AUTOMOTIVE SALES PERFORMANCE  • 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6446520" cy="4892040"/>
          </a:xfrm>
          <a:prstGeom prst="roundRect">
            <a:avLst>
              <a:gd name="adj" fmla="val 8000"/>
            </a:avLst>
          </a:prstGeom>
          <a:solidFill>
            <a:srgbClr val="E1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14032" y="1325880"/>
            <a:ext cx="4645152" cy="4892040"/>
          </a:xfrm>
          <a:prstGeom prst="roundRect">
            <a:avLst>
              <a:gd name="adj" fmla="val 8000"/>
            </a:avLst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4032" y="1325880"/>
            <a:ext cx="82296" cy="4892040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4927" y="1627632"/>
            <a:ext cx="3977639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70DAFF"/>
                </a:solidFill>
                <a:latin typeface="Aptos"/>
              </a:defRPr>
            </a:pPr>
            <a:r>
              <a:t>WHAT THE VISUAL SHOWS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43216" y="2203703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139696"/>
            <a:ext cx="3703320" cy="6217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Both plotted series trend downward from Mumbai through Chennai in the displayed order.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43216" y="3008375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2944368"/>
            <a:ext cx="3703320" cy="6217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Mumbai is the highest among the listed cities; Chennai is the lowest at the right end.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43216" y="3813048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3749039"/>
            <a:ext cx="3703320" cy="8412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Because the chart combines two measures, confirm the axes and units before comparing their absolute magnitudes.</a:t>
            </a:r>
          </a:p>
        </p:txBody>
      </p:sp>
      <p:pic>
        <p:nvPicPr>
          <p:cNvPr id="17" name="Picture 16" descr="crop_revenue_and_profit_by_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74519"/>
            <a:ext cx="594360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29184"/>
            <a:ext cx="73152" cy="530352"/>
          </a:xfrm>
          <a:prstGeom prst="rect">
            <a:avLst/>
          </a:prstGeom>
          <a:solidFill>
            <a:srgbClr val="70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56032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6F9FF"/>
                </a:solidFill>
                <a:latin typeface="Aptos Display"/>
              </a:defRPr>
            </a:pPr>
            <a:r>
              <a:t>Key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32104"/>
            <a:ext cx="1069848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C0CFE2"/>
                </a:solidFill>
                <a:latin typeface="Aptos"/>
              </a:defRPr>
            </a:pPr>
            <a:r>
              <a:t>Summary of patterns visible across the supplied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6519672"/>
            <a:ext cx="41148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C0CFE2"/>
                </a:solidFill>
                <a:latin typeface="Aptos"/>
              </a:defRPr>
            </a:pPr>
            <a:r>
              <a:t>AUTOMOTIVE SALES PERFORMANCE  •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6446520" cy="4892040"/>
          </a:xfrm>
          <a:prstGeom prst="roundRect">
            <a:avLst>
              <a:gd name="adj" fmla="val 8000"/>
            </a:avLst>
          </a:prstGeom>
          <a:solidFill>
            <a:srgbClr val="E1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14032" y="1325880"/>
            <a:ext cx="4645152" cy="4892040"/>
          </a:xfrm>
          <a:prstGeom prst="roundRect">
            <a:avLst>
              <a:gd name="adj" fmla="val 8000"/>
            </a:avLst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4032" y="1325880"/>
            <a:ext cx="82296" cy="4892040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4927" y="1627632"/>
            <a:ext cx="3977639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70DAFF"/>
                </a:solidFill>
                <a:latin typeface="Aptos"/>
              </a:defRPr>
            </a:pPr>
            <a:r>
              <a:t>WHAT THE VISUAL SHOWS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43216" y="2203703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139696"/>
            <a:ext cx="3703320" cy="6217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The displayed dashboard reports 2K units sold, ₹1.81bn revenue and ₹208.63M profit.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43216" y="3008375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2944368"/>
            <a:ext cx="3703320" cy="6217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Petrol is the leading fuel category in the units-sold mix.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43216" y="3813048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3749039"/>
            <a:ext cx="3703320" cy="6217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SUV is the highest-revenue vehicle type in the shown bar chart.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43216" y="4617720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4553712"/>
            <a:ext cx="3703320" cy="8412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The revenue trend declines across the displayed years; confirm year completeness and data quality.</a:t>
            </a:r>
          </a:p>
        </p:txBody>
      </p:sp>
      <p:pic>
        <p:nvPicPr>
          <p:cNvPr id="19" name="Picture 18" descr="401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11680"/>
            <a:ext cx="5943600" cy="33467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29184"/>
            <a:ext cx="73152" cy="530352"/>
          </a:xfrm>
          <a:prstGeom prst="rect">
            <a:avLst/>
          </a:prstGeom>
          <a:solidFill>
            <a:srgbClr val="70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56032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6F9FF"/>
                </a:solidFill>
                <a:latin typeface="Aptos Display"/>
              </a:defRPr>
            </a:pPr>
            <a: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32104"/>
            <a:ext cx="1069848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C0CFE2"/>
                </a:solidFill>
                <a:latin typeface="Aptos"/>
              </a:defRPr>
            </a:pPr>
            <a:r>
              <a:t>Practical actions suggested by the visual patterns; validate with source data before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6519672"/>
            <a:ext cx="41148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C0CFE2"/>
                </a:solidFill>
                <a:latin typeface="Aptos"/>
              </a:defRPr>
            </a:pPr>
            <a:r>
              <a:t>AUTOMOTIVE SALES PERFORMANCE  • 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6446520" cy="4892040"/>
          </a:xfrm>
          <a:prstGeom prst="roundRect">
            <a:avLst>
              <a:gd name="adj" fmla="val 8000"/>
            </a:avLst>
          </a:prstGeom>
          <a:solidFill>
            <a:srgbClr val="E1E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14032" y="1325880"/>
            <a:ext cx="4645152" cy="4892040"/>
          </a:xfrm>
          <a:prstGeom prst="roundRect">
            <a:avLst>
              <a:gd name="adj" fmla="val 8000"/>
            </a:avLst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14032" y="1325880"/>
            <a:ext cx="82296" cy="4892040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4927" y="1627632"/>
            <a:ext cx="3977639" cy="3657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70DAFF"/>
                </a:solidFill>
                <a:latin typeface="Aptos"/>
              </a:defRPr>
            </a:pPr>
            <a:r>
              <a:t>WHAT THE VISUAL SHOWS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43216" y="2203703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139696"/>
            <a:ext cx="3703320" cy="8412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Investigate the year-on-year revenue decline and check whether the final year is complete.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43216" y="322783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3163824"/>
            <a:ext cx="3703320" cy="621792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Review SUV performance by units, margin and cost to understand the drivers of revenue.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43216" y="4032504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3968496"/>
            <a:ext cx="3703320" cy="8412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Maintain Petrol availability while tracking customer demand for Diesel, Electric and CNG.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43216" y="5056632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4992624"/>
            <a:ext cx="3703320" cy="8412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Compare city profit with revenue, sales volume and operating costs before prioritizing markets.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43216" y="6080760"/>
            <a:ext cx="109728" cy="109728"/>
          </a:xfrm>
          <a:prstGeom prst="roundRect">
            <a:avLst>
              <a:gd name="adj" fmla="val 8000"/>
            </a:avLst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9248" y="6016752"/>
            <a:ext cx="3703320" cy="84124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6F9FF"/>
                </a:solidFill>
                <a:latin typeface="Aptos"/>
              </a:defRPr>
            </a:pPr>
            <a:r>
              <a:t>Verify the Profit Margin and Average Satisfaction KPI formats, which appear unusual as displayed.</a:t>
            </a:r>
          </a:p>
        </p:txBody>
      </p:sp>
      <p:pic>
        <p:nvPicPr>
          <p:cNvPr id="21" name="Picture 20" descr="crop_kpi_summary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423160"/>
            <a:ext cx="594360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329184"/>
            <a:ext cx="73152" cy="530352"/>
          </a:xfrm>
          <a:prstGeom prst="rect">
            <a:avLst/>
          </a:prstGeom>
          <a:solidFill>
            <a:srgbClr val="70D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256032"/>
            <a:ext cx="10789920" cy="566928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F6F9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32104"/>
            <a:ext cx="10698480" cy="32004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C0CFE2"/>
                </a:solidFill>
                <a:latin typeface="Aptos"/>
              </a:defRPr>
            </a:pPr>
            <a:r>
              <a:t>From dashboard visuals to evidence-based business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6519672"/>
            <a:ext cx="4114800" cy="1828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C0CFE2"/>
                </a:solidFill>
                <a:latin typeface="Aptos"/>
              </a:defRPr>
            </a:pPr>
            <a:r>
              <a:t>AUTOMOTIVE SALES PERFORMANCE  • 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10972800" cy="4480560"/>
          </a:xfrm>
          <a:prstGeom prst="roundRect">
            <a:avLst>
              <a:gd name="adj" fmla="val 8000"/>
            </a:avLst>
          </a:prstGeom>
          <a:solidFill>
            <a:srgbClr val="122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6217920" cy="196596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2900" b="1">
                <a:solidFill>
                  <a:srgbClr val="F6F9FF"/>
                </a:solidFill>
                <a:latin typeface="Aptos Display"/>
              </a:defRPr>
            </a:pPr>
            <a:r>
              <a:t>READ THE GRAPH.</a:t>
            </a:r>
          </a:p>
          <a:p>
            <a:pPr>
              <a:spcAft>
                <a:spcPts val="500"/>
              </a:spcAft>
              <a:defRPr sz="2900" b="1">
                <a:solidFill>
                  <a:srgbClr val="F6F9FF"/>
                </a:solidFill>
                <a:latin typeface="Aptos Display"/>
              </a:defRPr>
            </a:pPr>
            <a:r>
              <a:t>UNDERSTAND THE STORY.</a:t>
            </a:r>
          </a:p>
          <a:p>
            <a:pPr>
              <a:spcAft>
                <a:spcPts val="500"/>
              </a:spcAft>
              <a:defRPr sz="2900" b="1">
                <a:solidFill>
                  <a:srgbClr val="F6F9FF"/>
                </a:solidFill>
                <a:latin typeface="Aptos Display"/>
              </a:defRPr>
            </a:pPr>
            <a:r>
              <a:t>ACT ON THE EVIDENCE.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987552" y="4160520"/>
            <a:ext cx="1234440" cy="73152"/>
          </a:xfrm>
          <a:prstGeom prst="rect">
            <a:avLst/>
          </a:prstGeom>
          <a:solidFill>
            <a:srgbClr val="00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4526280"/>
            <a:ext cx="9784080" cy="64008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C0CFE2"/>
                </a:solidFill>
                <a:latin typeface="Aptos"/>
              </a:defRPr>
            </a:pPr>
            <a:r>
              <a:t>The dashboard supports comparison across revenue, profit, units sold, fuel mix, vehicle type and city performance.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5285232"/>
            <a:ext cx="9784080" cy="502920"/>
          </a:xfrm>
          <a:prstGeom prst="rect">
            <a:avLst/>
          </a:prstGeom>
          <a:noFill/>
        </p:spPr>
        <p:txBody>
          <a:bodyPr wrap="square" lIns="36576" rIns="36576" tIns="27432" bIns="18288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70DAFF"/>
                </a:solidFill>
                <a:latin typeface="Aptos"/>
              </a:defRPr>
            </a:pPr>
            <a:r>
              <a:t>Validate unusual KPI formats and incomplete periods before using the results for business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